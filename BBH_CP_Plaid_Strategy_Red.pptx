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B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9BF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66160"/>
            <a:ext cx="9144000" cy="155448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6692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HARRIMAN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83080" y="640080"/>
            <a:ext cx="310896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1783080" y="749808"/>
            <a:ext cx="310896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240280"/>
            <a:ext cx="6583680" cy="18745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9572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 × Plaid Open Banking Initiative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86968" y="34015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Comparative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5143500"/>
          </a:xfrm>
          <a:prstGeom prst="rect">
            <a:avLst/>
          </a:prstGeom>
          <a:solidFill>
            <a:srgbClr val="C9BF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63240" cy="137160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91840"/>
            <a:ext cx="3063240" cy="182880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5" name="Text 3"/>
          <p:cNvSpPr/>
          <p:nvPr/>
        </p:nvSpPr>
        <p:spPr>
          <a:xfrm>
            <a:off x="-91440" y="12801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B7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BBH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3063240" y="256032"/>
            <a:ext cx="56692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457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12070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0208" y="12070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Strategic Alignment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0" y="15808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0208" y="15808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19547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50208" y="19547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3286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50208" y="23286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Decisions Required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280" y="27025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50208" y="2702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Concerns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30764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0208" y="30764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34503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0208" y="34503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Concerns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83280" y="38242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50208" y="38242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Posture &amp; Pilot Scope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83280" y="4198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50208" y="41981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Path to Approval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 &amp; STRATEGIC ALIGNMENT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366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assessing Capital Partners’ open-banking obligations and client-data demand — in coordination with Legal, Risk, and CP Technology — CP recommends the following posture for the Plaid / FDX initiative: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28216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6642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Open Banking via Plaid Core Exchange (FDX), exposing read-only account data to authorized fintech apps over OAuth 2.0.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093976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2029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clients to grant consent through Plaid Link — secure data sharing without exposing BBH credentials.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45973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2395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strictly to holdings, balances, transactions, and contact data; payments and asset transfers explicitly excluded.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84048" y="281635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proceed to a governed pilot, we further recommend: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172968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new systematic, bot-based authentication pattern against a BBH-branded portal.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538728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Plaid Terms and Conditions / FDX license posture, with open legal gaps escalated to GC, Head of Risk &amp; CISO.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904488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initial pilot to Private Bank clients to contain data-exposure scope.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384048" y="429768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ARB approval with a legal carve-out unblocks engineering now; full go-live remains gated on closure of the Terms and Conditions gaps.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Residual-risk acceptance required at: 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highlight>
                  <a:srgbClr val="FFF2A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XXX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tolerance band.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Plaid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IS PLAID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network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3898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is an open-banking connectivity layer that links a client’s financial accounts to third-party fintech apps — without sharing bank credentials with those apps.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2286000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3774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hub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96112" y="250545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account, balance &amp; transaction data into one FDX/OFX feed.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3063240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1546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3026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broker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96112" y="328269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Link captures client authorization; the app gets a token, never credentials.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84048" y="3840480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9319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distribution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96112" y="405993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apps read via Plaid APIs — BBH exposes one endpoint, not many integrations.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61772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data flow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17720" y="1463040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1600200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66420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48656" y="1536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Client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248656" y="176479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sharing in a fintech app &amp; selects BBH.</a:t>
            </a:r>
            <a:endParaRPr lang="en-US" sz="9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675120" y="2093976"/>
            <a:ext cx="146304" cy="14630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617720" y="2249424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54880" y="2386584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450592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48656" y="23225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Plaid Link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248656" y="25511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Authenticates; consent captured, no credentials passed on.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675120" y="2880360"/>
            <a:ext cx="146304" cy="14630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617720" y="3035808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754880" y="3172968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236976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48656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BBH Core Exchange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5248656" y="33375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read-only FDX/OFX holdings, balances, transactions.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675120" y="3666744"/>
            <a:ext cx="146304" cy="146304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4617720" y="3822192"/>
            <a:ext cx="416052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4754880" y="3959352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023360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48656" y="38953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Fintech App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5248656" y="41239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data via token. Payments &amp; transfers excluded.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44" name="Text 32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authentication method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408176"/>
            <a:ext cx="4160520" cy="1207008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367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5179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 bot-based authentication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1975104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happen entirely within BBH infrastructure — Plaid redirects the client to a BBH-branded portal where login and consent occur. Plaid drives the flow programmatically via an automated agent; OAuth 2.0 tokens replace credential reuse, but the auth event is machine-initiated.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7432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" y="2898648"/>
            <a:ext cx="347472" cy="347472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297637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80720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2.0, not credentials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7552" y="304495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consents once; BBH issues a scoped token. The app never sees the password.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384048" y="339242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3547872"/>
            <a:ext cx="347472" cy="347472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3625596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34564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Machine-initiated logins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87552" y="36941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periodic auth — a new vector vs. interactive sessions. Needs bot-aware controls.</a:t>
            </a:r>
            <a:endParaRPr lang="en-US" sz="860" dirty="0"/>
          </a:p>
        </p:txBody>
      </p:sp>
      <p:sp>
        <p:nvSpPr>
          <p:cNvPr id="21" name="Shape 16"/>
          <p:cNvSpPr/>
          <p:nvPr/>
        </p:nvSpPr>
        <p:spPr>
          <a:xfrm>
            <a:off x="384048" y="404164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12064" y="4197096"/>
            <a:ext cx="347472" cy="347472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4274820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7552" y="410565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&amp; risk controls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87552" y="43434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risk-based step-up per NYDFS 500.12 must apply to the automated flow.</a:t>
            </a:r>
            <a:endParaRPr lang="en-US" sz="860" dirty="0"/>
          </a:p>
        </p:txBody>
      </p:sp>
      <p:sp>
        <p:nvSpPr>
          <p:cNvPr id="26" name="Shape 20"/>
          <p:cNvSpPr/>
          <p:nvPr/>
        </p:nvSpPr>
        <p:spPr>
          <a:xfrm>
            <a:off x="4754880" y="1115568"/>
            <a:ext cx="4023360" cy="3383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Text 21"/>
          <p:cNvSpPr/>
          <p:nvPr/>
        </p:nvSpPr>
        <p:spPr>
          <a:xfrm>
            <a:off x="4956048" y="1261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Rick / McCabe to approve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956048" y="1792224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188366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68112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 method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68112" y="202082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systematic, bot-based authentication against a BBH-branded portal as an accepted design pattern.</a:t>
            </a:r>
            <a:endParaRPr lang="en-US" sz="880" dirty="0"/>
          </a:p>
        </p:txBody>
      </p:sp>
      <p:sp>
        <p:nvSpPr>
          <p:cNvPr id="32" name="Shape 25"/>
          <p:cNvSpPr/>
          <p:nvPr/>
        </p:nvSpPr>
        <p:spPr>
          <a:xfrm>
            <a:off x="4956048" y="2468880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256032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68112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Terms &amp; Conditions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68112" y="2697480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Plaid Terms and Conditions / FDX license posture — including gaps flagged for escalation.</a:t>
            </a:r>
            <a:endParaRPr lang="en-US" sz="880" dirty="0"/>
          </a:p>
        </p:txBody>
      </p:sp>
      <p:sp>
        <p:nvSpPr>
          <p:cNvPr id="36" name="Shape 28"/>
          <p:cNvSpPr/>
          <p:nvPr/>
        </p:nvSpPr>
        <p:spPr>
          <a:xfrm>
            <a:off x="4956048" y="3145536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344" y="3236976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68112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posture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468112" y="337413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that read-only PB client data transits and is cached by a third-party intermediary.</a:t>
            </a:r>
            <a:endParaRPr lang="en-US" sz="880" dirty="0"/>
          </a:p>
        </p:txBody>
      </p:sp>
      <p:sp>
        <p:nvSpPr>
          <p:cNvPr id="40" name="Shape 31"/>
          <p:cNvSpPr/>
          <p:nvPr/>
        </p:nvSpPr>
        <p:spPr>
          <a:xfrm>
            <a:off x="4956048" y="3822192"/>
            <a:ext cx="384048" cy="384048"/>
          </a:xfrm>
          <a:prstGeom prst="ellipse">
            <a:avLst/>
          </a:prstGeom>
          <a:solidFill>
            <a:srgbClr val="8E0C20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391363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6811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 tolerance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468112" y="405079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higher residual-risk tolerance to unblock the pilot ahead of full closure.</a:t>
            </a:r>
            <a:endParaRPr lang="en-US" sz="880" dirty="0"/>
          </a:p>
        </p:txBody>
      </p:sp>
      <p:sp>
        <p:nvSpPr>
          <p:cNvPr id="44" name="Text 34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DECISIONS REQUIRED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 from leadership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463040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682496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7393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1581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approval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42416" y="1837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design — conditional approval acceptable to unblock engineering.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048" y="2340864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" y="2560320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517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2416" y="2459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42416" y="2715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GC, Head of Risk &amp; CISO sign-off on Plaid Terms and Conditions gaps &amp; FDX indemnity.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4048" y="3218688"/>
            <a:ext cx="4069080" cy="786384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" y="3438144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5295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acceptance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42416" y="3593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leader acceptance of data custody and privacy risk before go-live.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634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1463040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828032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269480" y="1572768"/>
            <a:ext cx="1371600" cy="237744"/>
          </a:xfrm>
          <a:prstGeom prst="rect">
            <a:avLst/>
          </a:prstGeom>
          <a:solidFill>
            <a:srgbClr val="8A7E72"/>
          </a:solidFill>
          <a:ln/>
        </p:spPr>
      </p:sp>
      <p:sp>
        <p:nvSpPr>
          <p:cNvPr id="25" name="Text 20"/>
          <p:cNvSpPr/>
          <p:nvPr/>
        </p:nvSpPr>
        <p:spPr>
          <a:xfrm>
            <a:off x="726948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828032" y="18470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OAuth 2.0 flow, FDX/OFX schema, Plaid hub &amp; STRIDE threat model documented.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4663440" y="234086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828032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Review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69480" y="2450592"/>
            <a:ext cx="1371600" cy="237744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0" name="Text 25"/>
          <p:cNvSpPr/>
          <p:nvPr/>
        </p:nvSpPr>
        <p:spPr>
          <a:xfrm>
            <a:off x="7269480" y="2450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4828032" y="272491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submission complete. Met with the Run &amp; Protect pillar to walk through the project and concerns; security controls, infra Q&amp;A, NYDFS analysis presented.</a:t>
            </a:r>
            <a:endParaRPr lang="en-US" sz="880" dirty="0"/>
          </a:p>
        </p:txBody>
      </p:sp>
      <p:sp>
        <p:nvSpPr>
          <p:cNvPr id="32" name="Shape 27"/>
          <p:cNvSpPr/>
          <p:nvPr/>
        </p:nvSpPr>
        <p:spPr>
          <a:xfrm>
            <a:off x="4663440" y="321868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4828032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269480" y="3328416"/>
            <a:ext cx="1371600" cy="237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Text 30"/>
          <p:cNvSpPr/>
          <p:nvPr/>
        </p:nvSpPr>
        <p:spPr>
          <a:xfrm>
            <a:off x="7269480" y="3328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REQ.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4828032" y="360273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review of Plaid Terms and Conditions &amp; FDX license done — material gaps identified.</a:t>
            </a:r>
            <a:endParaRPr lang="en-US" sz="880" dirty="0"/>
          </a:p>
        </p:txBody>
      </p:sp>
      <p:sp>
        <p:nvSpPr>
          <p:cNvPr id="37" name="Text 32"/>
          <p:cNvSpPr/>
          <p:nvPr/>
        </p:nvSpPr>
        <p:spPr>
          <a:xfrm>
            <a:off x="384048" y="4224528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limited to account holdings, balances, transactions, and contact data — payments and asset transfers explicitly excluded.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Bar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Concerns</a:t>
            </a:r>
            <a:endParaRPr lang="en-US" sz="3000" dirty="0"/>
          </a:p>
        </p:txBody>
      </p:sp>
      <p:sp>
        <p:nvSpPr>
          <p:cNvPr id="4" name="Section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LEGAL CONCERNS — OGC ANALYSIS</a:t>
            </a:r>
            <a:endParaRPr lang="en-US" sz="850" dirty="0"/>
          </a:p>
        </p:txBody>
      </p:sp>
      <p:sp>
        <p:nvSpPr>
          <p:cNvPr id="5" name="OGCContent"/>
          <p:cNvSpPr/>
          <p:nvPr/>
        </p:nvSpPr>
        <p:spPr>
          <a:xfrm>
            <a:off x="384048" y="1270000"/>
            <a:ext cx="8366760" cy="3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Bef>
                <a:spcPts val="700"/>
              </a:spcBef>
              <a:buFont typeface="Arial" pitchFamily="34" charset="0"/>
              <a:buChar char="▪"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has no “skin in the game” when accessing and using BBH client data</a:t>
            </a:r>
          </a:p>
          <a:p>
            <a:pPr marL="5143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is exempt from federal and state banking and securities regulations</a:t>
            </a:r>
          </a:p>
          <a:p>
            <a:pPr marL="857250" indent="-171450">
              <a:spcBef>
                <a:spcPts val="200"/>
              </a:spcBef>
              <a:buFont typeface="Arial" pitchFamily="34" charset="0"/>
              <a:buChar char="·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is a data and communications platform, not a financial institution</a:t>
            </a:r>
          </a:p>
          <a:p>
            <a:pPr marL="857250" indent="-171450">
              <a:spcBef>
                <a:spcPts val="200"/>
              </a:spcBef>
              <a:buFont typeface="Arial" pitchFamily="34" charset="0"/>
              <a:buChar char="·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may adopt practices and controls around cybersecurity, confidentiality, or resiliency, but it may also change those measures at its discretion</a:t>
            </a:r>
          </a:p>
          <a:p>
            <a:pPr marL="5143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has no responsibility to BBH under the terms of service</a:t>
            </a:r>
          </a:p>
          <a:p>
            <a:pPr marL="857250" indent="-171450">
              <a:spcBef>
                <a:spcPts val="200"/>
              </a:spcBef>
              <a:buFont typeface="Arial" pitchFamily="34" charset="0"/>
              <a:buChar char="·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Disclaims all liabilities and damages that may arise</a:t>
            </a:r>
          </a:p>
          <a:p>
            <a:pPr marL="857250" indent="-171450">
              <a:spcBef>
                <a:spcPts val="200"/>
              </a:spcBef>
              <a:buFont typeface="Arial" pitchFamily="34" charset="0"/>
              <a:buChar char="·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warranties or technical / operational support</a:t>
            </a:r>
          </a:p>
          <a:p>
            <a:pPr marL="857250" indent="-171450">
              <a:spcBef>
                <a:spcPts val="200"/>
              </a:spcBef>
              <a:buFont typeface="Arial" pitchFamily="34" charset="0"/>
              <a:buChar char="·"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confidentiality terms, without any cybersecurity commitments</a:t>
            </a:r>
          </a:p>
          <a:p>
            <a:pPr marL="171450" indent="-171450">
              <a:spcBef>
                <a:spcPts val="700"/>
              </a:spcBef>
              <a:buFont typeface="Arial" pitchFamily="34" charset="0"/>
              <a:buChar char="▪"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imposes contractual obligations on BBH</a:t>
            </a:r>
          </a:p>
          <a:p>
            <a:pPr marL="5143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liability, including exposure to consequential damages</a:t>
            </a:r>
          </a:p>
          <a:p>
            <a:pPr marL="5143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must provide Plaid the same levels of data access and connectivity as BBH provides directly to its clients</a:t>
            </a:r>
          </a:p>
          <a:p>
            <a:pPr marL="171450" indent="-171450">
              <a:spcBef>
                <a:spcPts val="700"/>
              </a:spcBef>
              <a:buFont typeface="Arial" pitchFamily="34" charset="0"/>
              <a:buChar char="▪"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is not willing to negotiate with BBH</a:t>
            </a:r>
          </a:p>
          <a:p>
            <a:pPr marL="5143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have been reviewed from a “take it or leave it” perspective</a:t>
            </a:r>
          </a:p>
          <a:p>
            <a:pPr marL="514350" indent="-171450">
              <a:spcBef>
                <a:spcPts val="300"/>
              </a:spcBef>
              <a:buFont typeface="Arial" pitchFamily="34" charset="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comparable circumstances, BBH has negotiated and secured robust contractual terms with its vendors (e.g., Addepar)</a:t>
            </a:r>
          </a:p>
        </p:txBody>
      </p:sp>
      <p:sp>
        <p:nvSpPr>
          <p:cNvPr id="6" name="Footer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7" name="PageNum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SECURITY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spoofing risk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credentials into a Plaid portal bearing BBH branding — adversaries can clone it to harvest credentials. Anti-spoofing controls must be validated.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 NYDFS 500.12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must operate within BBH’s MFA and risk-based step-up authentication controls per NYDFS Part 500.12.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kill switch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must block Plaid access instantly without impacting direct user logins — plus geo-blocking by country/region.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access &amp; SIEM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requires Plaid system-admin logs and auth detail, ingestion into Splunk/SIEM, and RSA risk-tool integration.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SOC obligations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audit-trail requirements and SOC implications of delegating auth flows to a third party must be assessed and documented.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Movement Concerns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MOVEMENT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0624" y="1261872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3395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caching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49047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caches identity data, account/routing numbers, and raw transactions — retained up to 30 days post-revocation, extending BBH’s exposure window.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" y="1922069"/>
            <a:ext cx="365760" cy="365760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999793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88549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refresh cycle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15066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performs periodic refreshes every 4–6 hours without explicit BBH initiation — data is continuously pulled and held outside the perimeter.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" y="2582266"/>
            <a:ext cx="365760" cy="365760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" y="265999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54569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outside BBH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2810866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enriches transactions (merchant names, categories, overrides) independently — transformations occur outside BBH’s control or audit trail.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0624" y="3242462"/>
            <a:ext cx="365760" cy="365760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" y="332018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20588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NYDFS / CCPA / GDPR gap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3471062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Plaid’s confidentiality obligations fall below BBH standards. Data residency and processing jurisdiction are unaddressed in current terms.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0624" y="3902659"/>
            <a:ext cx="365760" cy="36576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" y="3980383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" y="386608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adequate but unenforceable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32688" y="4131259"/>
            <a:ext cx="78181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and TLS 1.2+ in transit are technically sound, but not enforceable under the current Terms and Conditions.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Posture &amp; Pilot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RISK POSTURE &amp; PILOT SCOPE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4114800" cy="1554480"/>
          </a:xfrm>
          <a:prstGeom prst="rect">
            <a:avLst/>
          </a:prstGeom>
          <a:solidFill>
            <a:srgbClr val="C810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3350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 exposure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" y="17007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clients only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initial pilot to PB clients to limit the data-exposure surface while Terms and Conditions and security controls are validated.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82896" y="13350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Residual-risk acceptance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82896" y="17007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approval, legal carve-out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engineering now; full go-live remains gated on closure of the open Terms and Conditions gaps and indemnity parity.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4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data-custody guardrails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511296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6928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payments or asset transfers — holdings, balances, transactions, contact data only.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209544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92424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511296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92424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Revocable consent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92424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Client-granted via Plaid Link; kill switch + geo-blocking enforced by BBH.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6035040" y="3255264"/>
            <a:ext cx="271576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3419856"/>
            <a:ext cx="384048" cy="384048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351129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movement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17920" y="4114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access logs ingested into Splunk/SIEM; caching window tracked to 30 days.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Bar"/>
          <p:cNvSpPr/>
          <p:nvPr/>
        </p:nvSpPr>
        <p:spPr>
          <a:xfrm>
            <a:off x="384048" y="310896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4572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ection"/>
          <p:cNvSpPr/>
          <p:nvPr/>
        </p:nvSpPr>
        <p:spPr>
          <a:xfrm>
            <a:off x="4572000" y="329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PATH TO APPROVAL</a:t>
            </a:r>
            <a:endParaRPr lang="en-US" sz="850" dirty="0"/>
          </a:p>
        </p:txBody>
      </p:sp>
      <p:sp>
        <p:nvSpPr>
          <p:cNvPr id="5" name="Card"/>
          <p:cNvSpPr/>
          <p:nvPr/>
        </p:nvSpPr>
        <p:spPr>
          <a:xfrm>
            <a:off x="384048" y="1180000"/>
            <a:ext cx="8366760" cy="12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Circle"/>
          <p:cNvSpPr/>
          <p:nvPr/>
        </p:nvSpPr>
        <p:spPr>
          <a:xfrm>
            <a:off x="566928" y="15664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CircleNum"/>
          <p:cNvSpPr/>
          <p:nvPr/>
        </p:nvSpPr>
        <p:spPr>
          <a:xfrm>
            <a:off x="566928" y="156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GrpTitle"/>
          <p:cNvSpPr/>
          <p:nvPr/>
        </p:nvSpPr>
        <p:spPr>
          <a:xfrm>
            <a:off x="1225296" y="1290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Required</a:t>
            </a:r>
            <a:endParaRPr lang="en-US" sz="1350" dirty="0"/>
          </a:p>
        </p:txBody>
      </p:sp>
      <p:sp>
        <p:nvSpPr>
          <p:cNvPr id="9" name="SubItems"/>
          <p:cNvSpPr/>
          <p:nvPr/>
        </p:nvSpPr>
        <p:spPr>
          <a:xfrm>
            <a:off x="4297680" y="1270000"/>
            <a:ext cx="429768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&amp; senior-management sign-off on the conditional approval to unblock engineering.</a:t>
            </a:r>
          </a:p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Risk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Terms and Conditions gaps, liability caps and indemnity to GC and Head of Risk.</a:t>
            </a:r>
          </a:p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acceptance of bot-based auth, spoofing controls, kill switch and SIEM integration.</a:t>
            </a:r>
          </a:p>
        </p:txBody>
      </p:sp>
      <p:sp>
        <p:nvSpPr>
          <p:cNvPr id="10" name="Card"/>
          <p:cNvSpPr/>
          <p:nvPr/>
        </p:nvSpPr>
        <p:spPr>
          <a:xfrm>
            <a:off x="384048" y="2505000"/>
            <a:ext cx="836676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Circle"/>
          <p:cNvSpPr/>
          <p:nvPr/>
        </p:nvSpPr>
        <p:spPr>
          <a:xfrm>
            <a:off x="566928" y="27664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CircleNum"/>
          <p:cNvSpPr/>
          <p:nvPr/>
        </p:nvSpPr>
        <p:spPr>
          <a:xfrm>
            <a:off x="566928" y="276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GrpTitle"/>
          <p:cNvSpPr/>
          <p:nvPr/>
        </p:nvSpPr>
        <p:spPr>
          <a:xfrm>
            <a:off x="1225296" y="2615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— CP</a:t>
            </a:r>
            <a:endParaRPr lang="en-US" sz="1350" dirty="0"/>
          </a:p>
        </p:txBody>
      </p:sp>
      <p:sp>
        <p:nvSpPr>
          <p:cNvPr id="14" name="SubItems"/>
          <p:cNvSpPr/>
          <p:nvPr/>
        </p:nvSpPr>
        <p:spPr>
          <a:xfrm>
            <a:off x="4297680" y="2595000"/>
            <a:ext cx="429768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Finalization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end-to-end OAuth 2.0 / FDX design with auth &amp; authz hosted in BBH infrastructure.</a:t>
            </a:r>
          </a:p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Registration &amp; Onboarding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registration and onboard BBH to Plaid for the governed pilot.</a:t>
            </a:r>
          </a:p>
        </p:txBody>
      </p:sp>
      <p:sp>
        <p:nvSpPr>
          <p:cNvPr id="15" name="Card"/>
          <p:cNvSpPr/>
          <p:nvPr/>
        </p:nvSpPr>
        <p:spPr>
          <a:xfrm>
            <a:off x="384048" y="3580000"/>
            <a:ext cx="8366760" cy="8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Circle"/>
          <p:cNvSpPr/>
          <p:nvPr/>
        </p:nvSpPr>
        <p:spPr>
          <a:xfrm>
            <a:off x="566928" y="37614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CircleNum"/>
          <p:cNvSpPr/>
          <p:nvPr/>
        </p:nvSpPr>
        <p:spPr>
          <a:xfrm>
            <a:off x="566928" y="376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GrpTitle"/>
          <p:cNvSpPr/>
          <p:nvPr/>
        </p:nvSpPr>
        <p:spPr>
          <a:xfrm>
            <a:off x="1225296" y="3690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Risk</a:t>
            </a:r>
            <a:endParaRPr lang="en-US" sz="1350" dirty="0"/>
          </a:p>
        </p:txBody>
      </p:sp>
      <p:sp>
        <p:nvSpPr>
          <p:cNvPr id="19" name="SubItems"/>
          <p:cNvSpPr/>
          <p:nvPr/>
        </p:nvSpPr>
        <p:spPr>
          <a:xfrm>
            <a:off x="4297680" y="3670000"/>
            <a:ext cx="42976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Consent Screen  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Plaid content / consent screen presented to the client at authorization.</a:t>
            </a:r>
          </a:p>
        </p:txBody>
      </p:sp>
      <p:sp>
        <p:nvSpPr>
          <p:cNvPr id="20" name="Footer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  <p:sp>
        <p:nvSpPr>
          <p:cNvPr id="21" name="PageNum"/>
          <p:cNvSpPr/>
          <p:nvPr/>
        </p:nvSpPr>
        <p:spPr>
          <a:xfrm>
            <a:off x="8503920" y="4617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B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D6CD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83280"/>
            <a:ext cx="9144000" cy="1737360"/>
          </a:xfrm>
          <a:prstGeom prst="rect">
            <a:avLst/>
          </a:prstGeom>
          <a:solidFill>
            <a:srgbClr val="BBAF9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920240"/>
            <a:ext cx="6400800" cy="1325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665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proceed to a governed PB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2724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ARB approval now · legal escalation in parallel · go-live gated on Terms and Conditions closure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Capital Partners Technology  ·  Plaid / FDX ARB Submission  ·  Internal Use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BBH × Plaid Open Banking Initiative</dc:title>
  <dc:subject>PptxGenJS Presentation</dc:subject>
  <dc:creator>BBH Capital Partners Technology</dc:creator>
  <cp:lastModifiedBy>BBH Capital Partners Technology</cp:lastModifiedBy>
  <cp:revision>1</cp:revision>
  <dcterms:created xsi:type="dcterms:W3CDTF">2026-06-23T12:36:49Z</dcterms:created>
  <dcterms:modified xsi:type="dcterms:W3CDTF">2026-06-23T12:36:49Z</dcterms:modified>
</cp:coreProperties>
</file>